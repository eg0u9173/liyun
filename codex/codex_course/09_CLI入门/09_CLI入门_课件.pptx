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EFF"/>
                </a:solidFill>
                <a:latin typeface="Microsoft YaHei"/>
              </a:defRPr>
            </a:pPr>
            <a:r>
              <a:t>第9节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011680"/>
            <a:ext cx="1828800" cy="381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CLI 入门：命令行里的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A95AD"/>
                </a:solidFill>
                <a:latin typeface="Microsoft YaHei"/>
              </a:defRPr>
            </a:pPr>
            <a:r>
              <a:t>安装并使用 CLI，用命令行完成代码修改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669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5AD"/>
                </a:solidFill>
                <a:latin typeface="Microsoft YaHei"/>
              </a:defRPr>
            </a:pPr>
            <a:r>
              <a:t>Codex 实战指南：从入门到系统提效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什么是 CLI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234440"/>
            <a:ext cx="1371600" cy="381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9601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CLI = Command Line Interface（命令行界面）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在终端/命令提示符中使用 Codex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最灵活的入口，适合开发者和自动化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支持远程模式（连接云服务器）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安装与登录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234440"/>
            <a:ext cx="1371600" cy="381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9601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npm install -g @openai/codex  — 全局安装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codex auth login  — 浏览器跳转登录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验证安装：codex --version</a:t>
            </a:r>
          </a:p>
          <a:p>
            <a:pPr lvl="1">
              <a:spcAft>
                <a:spcPts val="1200"/>
              </a:spcAft>
              <a:defRPr sz="1700">
                <a:solidFill>
                  <a:srgbClr val="8A95AD"/>
                </a:solidFill>
                <a:latin typeface="Microsoft YaHei"/>
              </a:defRPr>
            </a:pPr>
            <a:r>
              <a:t>提示：需要 Node.js 环境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CLI 核心命令速查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234440"/>
            <a:ext cx="1371600" cy="381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" y="1645920"/>
            <a:ext cx="9601200" cy="4114800"/>
          </a:xfrm>
          <a:prstGeom prst="rect">
            <a:avLst/>
          </a:prstGeom>
          <a:solidFill>
            <a:srgbClr val="16213E"/>
          </a:solidFill>
          <a:ln w="12700">
            <a:solidFill>
              <a:srgbClr val="2A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144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00E5CC"/>
                </a:solidFill>
                <a:latin typeface="Consolas"/>
              </a:defRPr>
            </a:pPr>
            <a:r>
              <a:t># 直接执行任务</a:t>
            </a:r>
          </a:p>
          <a:p>
            <a:pPr>
              <a:spcAft>
                <a:spcPts val="400"/>
              </a:spcAft>
              <a:defRPr sz="1500">
                <a:solidFill>
                  <a:srgbClr val="00E5CC"/>
                </a:solidFill>
                <a:latin typeface="Consolas"/>
              </a:defRPr>
            </a:pPr>
            <a:r>
              <a:t>codex "帮我写一个Python快速排序"</a:t>
            </a:r>
          </a:p>
          <a:p>
            <a:pPr>
              <a:spcAft>
                <a:spcPts val="400"/>
              </a:spcAft>
              <a:defRPr sz="1500">
                <a:solidFill>
                  <a:srgbClr val="00E5CC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00E5CC"/>
                </a:solidFill>
                <a:latin typeface="Consolas"/>
              </a:defRPr>
            </a:pPr>
            <a:r>
              <a:t># 指定模型</a:t>
            </a:r>
          </a:p>
          <a:p>
            <a:pPr>
              <a:spcAft>
                <a:spcPts val="400"/>
              </a:spcAft>
              <a:defRPr sz="1500">
                <a:solidFill>
                  <a:srgbClr val="00E5CC"/>
                </a:solidFill>
                <a:latin typeface="Consolas"/>
              </a:defRPr>
            </a:pPr>
            <a:r>
              <a:t>codex --model gpt-4.1 "重构这段代码"</a:t>
            </a:r>
          </a:p>
          <a:p>
            <a:pPr>
              <a:spcAft>
                <a:spcPts val="400"/>
              </a:spcAft>
              <a:defRPr sz="1500">
                <a:solidFill>
                  <a:srgbClr val="00E5CC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00E5CC"/>
                </a:solidFill>
                <a:latin typeface="Consolas"/>
              </a:defRPr>
            </a:pPr>
            <a:r>
              <a:t># 设置权限模式</a:t>
            </a:r>
          </a:p>
          <a:p>
            <a:pPr>
              <a:spcAft>
                <a:spcPts val="400"/>
              </a:spcAft>
              <a:defRPr sz="1500">
                <a:solidFill>
                  <a:srgbClr val="00E5CC"/>
                </a:solidFill>
                <a:latin typeface="Consolas"/>
              </a:defRPr>
            </a:pPr>
            <a:r>
              <a:t>codex --approval-mode auto "修复所有测试"</a:t>
            </a:r>
          </a:p>
          <a:p>
            <a:pPr>
              <a:spcAft>
                <a:spcPts val="400"/>
              </a:spcAft>
              <a:defRPr sz="1500">
                <a:solidFill>
                  <a:srgbClr val="00E5CC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00E5CC"/>
                </a:solidFill>
                <a:latin typeface="Consolas"/>
              </a:defRPr>
            </a:pPr>
            <a:r>
              <a:t># 远程模式</a:t>
            </a:r>
          </a:p>
          <a:p>
            <a:pPr>
              <a:spcAft>
                <a:spcPts val="400"/>
              </a:spcAft>
              <a:defRPr sz="1500">
                <a:solidFill>
                  <a:srgbClr val="00E5CC"/>
                </a:solidFill>
                <a:latin typeface="Consolas"/>
              </a:defRPr>
            </a:pPr>
            <a:r>
              <a:t>codex --remote ws://127.0.0.1:9001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943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95AD"/>
                </a:solidFill>
                <a:latin typeface="Microsoft YaHei"/>
              </a:defRPr>
            </a:pPr>
            <a:r>
              <a:t>更多参数：codex --help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用 CLI 改代码实战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234440"/>
            <a:ext cx="1371600" cy="381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9601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第一步：cd 进入项目目录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第二步：描述修改需求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第三步：Codex 读取代码 → 分析 → 修改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第四步：审查 diff → 确认提交</a:t>
            </a:r>
          </a:p>
          <a:p>
            <a:pPr lvl="1">
              <a:spcAft>
                <a:spcPts val="1200"/>
              </a:spcAft>
              <a:defRPr sz="1700">
                <a:solidFill>
                  <a:srgbClr val="8A95AD"/>
                </a:solidFill>
                <a:latin typeface="Microsoft YaHei"/>
              </a:defRPr>
            </a:pPr>
            <a:r>
              <a:t>演示：用 CLI 修复一个 Python Bug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CLI vs 桌面 App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234440"/>
            <a:ext cx="1371600" cy="381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" y="1645920"/>
            <a:ext cx="4526280" cy="4389120"/>
          </a:xfrm>
          <a:prstGeom prst="rect">
            <a:avLst/>
          </a:prstGeom>
          <a:solidFill>
            <a:srgbClr val="16213E"/>
          </a:solidFill>
          <a:ln w="25400">
            <a:solidFill>
              <a:srgbClr val="00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783080"/>
            <a:ext cx="3977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EFF"/>
                </a:solidFill>
                <a:latin typeface="Microsoft YaHei"/>
              </a:defRPr>
            </a:pPr>
            <a:r>
              <a:t>CLI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377440"/>
            <a:ext cx="3977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B0BCD0"/>
                </a:solidFill>
                <a:latin typeface="Microsoft YaHei"/>
              </a:defRPr>
            </a:pPr>
            <a:r>
              <a:t>终端操作</a:t>
            </a:r>
          </a:p>
          <a:p>
            <a:pPr>
              <a:spcAft>
                <a:spcPts val="800"/>
              </a:spcAft>
              <a:defRPr sz="1600">
                <a:solidFill>
                  <a:srgbClr val="B0BCD0"/>
                </a:solidFill>
                <a:latin typeface="Microsoft YaHei"/>
              </a:defRPr>
            </a:pPr>
            <a:r>
              <a:t>最灵活</a:t>
            </a:r>
          </a:p>
          <a:p>
            <a:pPr>
              <a:spcAft>
                <a:spcPts val="800"/>
              </a:spcAft>
              <a:defRPr sz="1600">
                <a:solidFill>
                  <a:srgbClr val="B0BCD0"/>
                </a:solidFill>
                <a:latin typeface="Microsoft YaHei"/>
              </a:defRPr>
            </a:pPr>
            <a:r>
              <a:t>支持远程</a:t>
            </a:r>
          </a:p>
          <a:p>
            <a:pPr>
              <a:spcAft>
                <a:spcPts val="800"/>
              </a:spcAft>
              <a:defRPr sz="1600">
                <a:solidFill>
                  <a:srgbClr val="B0BCD0"/>
                </a:solidFill>
                <a:latin typeface="Microsoft YaHei"/>
              </a:defRPr>
            </a:pPr>
            <a:r>
              <a:t>适合自动化</a:t>
            </a:r>
          </a:p>
          <a:p>
            <a:pPr>
              <a:spcAft>
                <a:spcPts val="800"/>
              </a:spcAft>
              <a:defRPr sz="1600">
                <a:solidFill>
                  <a:srgbClr val="B0BCD0"/>
                </a:solidFill>
                <a:latin typeface="Microsoft YaHei"/>
              </a:defRPr>
            </a:pPr>
            <a:r>
              <a:t>开发者首选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645920"/>
            <a:ext cx="4526280" cy="4389120"/>
          </a:xfrm>
          <a:prstGeom prst="rect">
            <a:avLst/>
          </a:prstGeom>
          <a:solidFill>
            <a:srgbClr val="16213E"/>
          </a:solidFill>
          <a:ln w="25400">
            <a:solidFill>
              <a:srgbClr val="00E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783080"/>
            <a:ext cx="3977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5CC"/>
                </a:solidFill>
                <a:latin typeface="Microsoft YaHei"/>
              </a:defRPr>
            </a:pPr>
            <a:r>
              <a:t>桌面 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377440"/>
            <a:ext cx="3977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B0BCD0"/>
                </a:solidFill>
                <a:latin typeface="Microsoft YaHei"/>
              </a:defRPr>
            </a:pPr>
            <a:r>
              <a:t>图形界面</a:t>
            </a:r>
          </a:p>
          <a:p>
            <a:pPr>
              <a:spcAft>
                <a:spcPts val="800"/>
              </a:spcAft>
              <a:defRPr sz="1600">
                <a:solidFill>
                  <a:srgbClr val="B0BCD0"/>
                </a:solidFill>
                <a:latin typeface="Microsoft YaHei"/>
              </a:defRPr>
            </a:pPr>
            <a:r>
              <a:t>最直观</a:t>
            </a:r>
          </a:p>
          <a:p>
            <a:pPr>
              <a:spcAft>
                <a:spcPts val="800"/>
              </a:spcAft>
              <a:defRPr sz="1600">
                <a:solidFill>
                  <a:srgbClr val="B0BCD0"/>
                </a:solidFill>
                <a:latin typeface="Microsoft YaHei"/>
              </a:defRPr>
            </a:pPr>
            <a:r>
              <a:t>功能最全</a:t>
            </a:r>
          </a:p>
          <a:p>
            <a:pPr>
              <a:spcAft>
                <a:spcPts val="800"/>
              </a:spcAft>
              <a:defRPr sz="1600">
                <a:solidFill>
                  <a:srgbClr val="B0BCD0"/>
                </a:solidFill>
                <a:latin typeface="Microsoft YaHei"/>
              </a:defRPr>
            </a:pPr>
            <a:r>
              <a:t>适合日常</a:t>
            </a:r>
          </a:p>
          <a:p>
            <a:pPr>
              <a:spcAft>
                <a:spcPts val="800"/>
              </a:spcAft>
              <a:defRPr sz="1600">
                <a:solidFill>
                  <a:srgbClr val="B0BCD0"/>
                </a:solidFill>
                <a:latin typeface="Microsoft YaHei"/>
              </a:defRPr>
            </a:pPr>
            <a:r>
              <a:t>所有用户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7315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E5CC"/>
                </a:solidFill>
                <a:latin typeface="Microsoft YaHei"/>
              </a:defRPr>
            </a:pPr>
            <a:r>
              <a:t>本节要点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371600"/>
            <a:ext cx="1371600" cy="38100"/>
          </a:xfrm>
          <a:prstGeom prst="rect">
            <a:avLst/>
          </a:prstGeom>
          <a:solidFill>
            <a:srgbClr val="00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144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t>✓  CLI 是最灵活的 Codex 入口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t>✓  安装简单，命令清晰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t>✓  适合代码修改和自动化场景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t>✓  建议 CLI + 桌面 App 结合使用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9EFF"/>
                </a:solidFill>
                <a:latin typeface="Microsoft YaHei"/>
              </a:defRPr>
            </a:pPr>
            <a:r>
              <a:t>下节预告 → VS Code + Codex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